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5" r:id="rId9"/>
    <p:sldId id="261" r:id="rId10"/>
    <p:sldId id="262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8a3913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8a3913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d8a3913e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d8a3913e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5fe14d3b4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5fe14d3b4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5fe14d3b4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5fe14d3b4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6178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d8a3913ea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d8a3913ea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d8a3913e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d8a3913e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d8a3913e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d8a3913e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8735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d8a3913e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d8a3913e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5360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d8a3913e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d8a3913e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d8a3913ea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0d8a3913ea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R0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R01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R01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10800000" flipH="1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647986" y="798277"/>
            <a:ext cx="8205069" cy="17024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NGHIÊN CỨU TỔNG QUÁT HÓA </a:t>
            </a:r>
            <a:br>
              <a:rPr lang="en-US" sz="30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30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TỪ NGUỒN DỮ LIỆU ĐƠN MIỀN CHO BÀI TOÁN ĐẾM NGƯỜI TRONG ẢNH BẰNG PHƯƠNG PHÁP MPCOUNT</a:t>
            </a:r>
            <a:endParaRPr sz="3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599476" y="2870538"/>
            <a:ext cx="6240940" cy="15767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1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Môn học: </a:t>
            </a:r>
            <a:r>
              <a:rPr lang="en-US" sz="1800" b="1" i="0" u="none" strike="noStrike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Phương</a:t>
            </a:r>
            <a:r>
              <a:rPr lang="en-US" sz="1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b="1" i="0" u="none" strike="noStrike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pháp</a:t>
            </a:r>
            <a:r>
              <a:rPr lang="en-US" sz="1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b="1" i="0" u="none" strike="noStrike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nghiên</a:t>
            </a:r>
            <a:r>
              <a:rPr lang="en-US" sz="1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b="1" i="0" u="none" strike="noStrike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cứu</a:t>
            </a:r>
            <a:r>
              <a:rPr lang="en-US" sz="1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khoa </a:t>
            </a:r>
            <a:r>
              <a:rPr lang="en-US" sz="1800" b="1" i="0" u="none" strike="noStrike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học</a:t>
            </a:r>
            <a:br>
              <a:rPr lang="en-US" sz="1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r>
              <a:rPr lang="vi-VN" sz="1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Lớp: CS2205.SEP2025</a:t>
            </a:r>
            <a:br>
              <a:rPr lang="vi-VN" sz="1800" b="0" dirty="0">
                <a:effectLst/>
              </a:rPr>
            </a:br>
            <a:r>
              <a:rPr lang="vi-VN" sz="1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GV: PGS.TS. Lê Đình Duy</a:t>
            </a:r>
            <a:br>
              <a:rPr lang="en" sz="1800" b="1" dirty="0"/>
            </a:br>
            <a:r>
              <a:rPr lang="en" sz="1800" b="1" dirty="0"/>
              <a:t>HV: N</a:t>
            </a:r>
            <a:r>
              <a:rPr lang="en-US" sz="1800" b="1" dirty="0"/>
              <a:t>g</a:t>
            </a:r>
            <a:r>
              <a:rPr lang="en" sz="1800" b="1" dirty="0"/>
              <a:t>uyễn Thùy Linh – 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250104012</a:t>
            </a:r>
            <a:endParaRPr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Tóm tắt 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Roboto" panose="02000000000000000000" pitchFamily="2" charset="0"/>
                <a:ea typeface="Roboto" panose="02000000000000000000" pitchFamily="2" charset="0"/>
              </a:rPr>
              <a:t>Lớp: </a:t>
            </a:r>
            <a:r>
              <a:rPr lang="en-US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CS2205.SEP2025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" dirty="0">
                <a:latin typeface="Roboto" panose="02000000000000000000" pitchFamily="2" charset="0"/>
                <a:ea typeface="Roboto" panose="02000000000000000000" pitchFamily="2" charset="0"/>
              </a:rPr>
              <a:t>Link Github của nhóm: 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" dirty="0">
                <a:latin typeface="Roboto" panose="02000000000000000000" pitchFamily="2" charset="0"/>
                <a:ea typeface="Roboto" panose="02000000000000000000" pitchFamily="2" charset="0"/>
              </a:rPr>
              <a:t>Link YouTube video: </a:t>
            </a:r>
          </a:p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Họ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và</a:t>
            </a:r>
            <a:r>
              <a:rPr lang="en-US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tên</a:t>
            </a:r>
            <a:r>
              <a:rPr lang="en-US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: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Nguyễn Thùy Linh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MSHV: </a:t>
            </a:r>
            <a:r>
              <a:rPr lang="en-US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250104012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Giới thiệu (1/2)</a:t>
            </a:r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471899" y="820500"/>
            <a:ext cx="4481101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 b="1" dirty="0"/>
              <a:t>1. </a:t>
            </a:r>
            <a:r>
              <a:rPr lang="en-US" sz="1800" b="1" dirty="0" err="1"/>
              <a:t>Bối</a:t>
            </a:r>
            <a:r>
              <a:rPr lang="en-US" sz="1800" b="1" dirty="0"/>
              <a:t> </a:t>
            </a:r>
            <a:r>
              <a:rPr lang="en-US" sz="1800" b="1" dirty="0" err="1"/>
              <a:t>cảnh</a:t>
            </a:r>
            <a:r>
              <a:rPr lang="en-US" sz="1800" b="1" dirty="0"/>
              <a:t> </a:t>
            </a:r>
            <a:r>
              <a:rPr lang="en-US" sz="1800" b="1" dirty="0" err="1"/>
              <a:t>nghiên</a:t>
            </a:r>
            <a:r>
              <a:rPr lang="en-US" sz="1800" b="1" dirty="0"/>
              <a:t> </a:t>
            </a:r>
            <a:r>
              <a:rPr lang="en-US" sz="1800" b="1" dirty="0" err="1"/>
              <a:t>cứu</a:t>
            </a:r>
            <a:endParaRPr lang="en-US" sz="1800" b="1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sz="1800" dirty="0" err="1"/>
              <a:t>Đếm</a:t>
            </a:r>
            <a:r>
              <a:rPr lang="en-US" sz="1800" dirty="0"/>
              <a:t> </a:t>
            </a:r>
            <a:r>
              <a:rPr lang="en-US" sz="1800" dirty="0" err="1"/>
              <a:t>đám</a:t>
            </a:r>
            <a:r>
              <a:rPr lang="en-US" sz="1800" dirty="0"/>
              <a:t> </a:t>
            </a:r>
            <a:r>
              <a:rPr lang="en-US" sz="1800" dirty="0" err="1"/>
              <a:t>đông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giám</a:t>
            </a:r>
            <a:r>
              <a:rPr lang="en-US" sz="1800" dirty="0"/>
              <a:t> </a:t>
            </a:r>
            <a:r>
              <a:rPr lang="en-US" sz="1800" dirty="0" err="1"/>
              <a:t>sát</a:t>
            </a:r>
            <a:r>
              <a:rPr lang="en-US" sz="1800" dirty="0"/>
              <a:t> an </a:t>
            </a:r>
            <a:r>
              <a:rPr lang="en-US" sz="1800" dirty="0" err="1"/>
              <a:t>ninh</a:t>
            </a:r>
            <a:r>
              <a:rPr lang="en-US" sz="1800" dirty="0"/>
              <a:t>, </a:t>
            </a:r>
            <a:r>
              <a:rPr lang="en-US" sz="1800" dirty="0" err="1"/>
              <a:t>tổ</a:t>
            </a:r>
            <a:r>
              <a:rPr lang="en-US" sz="1800" dirty="0"/>
              <a:t> </a:t>
            </a:r>
            <a:r>
              <a:rPr lang="en-US" sz="1800" dirty="0" err="1"/>
              <a:t>chức</a:t>
            </a:r>
            <a:r>
              <a:rPr lang="en-US" sz="1800" dirty="0"/>
              <a:t> </a:t>
            </a:r>
            <a:r>
              <a:rPr lang="en-US" sz="1800" dirty="0" err="1"/>
              <a:t>sự</a:t>
            </a:r>
            <a:r>
              <a:rPr lang="en-US" sz="1800" dirty="0"/>
              <a:t> </a:t>
            </a:r>
            <a:r>
              <a:rPr lang="en-US" sz="1800" dirty="0" err="1"/>
              <a:t>kiện</a:t>
            </a:r>
            <a:r>
              <a:rPr lang="en-US" sz="1800" dirty="0"/>
              <a:t>, </a:t>
            </a:r>
            <a:r>
              <a:rPr lang="en-US" sz="1800" dirty="0" err="1"/>
              <a:t>quản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quy</a:t>
            </a:r>
            <a:r>
              <a:rPr lang="en-US" sz="1800" dirty="0"/>
              <a:t> </a:t>
            </a:r>
            <a:r>
              <a:rPr lang="en-US" sz="1800" dirty="0" err="1"/>
              <a:t>hoạch</a:t>
            </a:r>
            <a:r>
              <a:rPr lang="en-US" sz="1800" dirty="0"/>
              <a:t> </a:t>
            </a:r>
            <a:r>
              <a:rPr lang="en-US" sz="1800" dirty="0" err="1"/>
              <a:t>đô</a:t>
            </a:r>
            <a:r>
              <a:rPr lang="en-US" sz="1800" dirty="0"/>
              <a:t> </a:t>
            </a:r>
            <a:r>
              <a:rPr lang="en-US" sz="1800" dirty="0" err="1"/>
              <a:t>thị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</a:t>
            </a:r>
            <a:r>
              <a:rPr lang="en-US" sz="1800" dirty="0" err="1"/>
              <a:t>minh</a:t>
            </a:r>
            <a:endParaRPr lang="en-US" sz="18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vi-VN" sz="1800" dirty="0"/>
              <a:t>Phương pháp chủ đạo hiện nay: Hồi quy bản đồ mật độ (Density map regression) dựa trên học sâu</a:t>
            </a:r>
            <a:endParaRPr lang="en-US" sz="18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vi-VN" sz="1800" dirty="0"/>
              <a:t>Ưu điểm: Đạt độ chính xác cao khi dữ liệu huấn luyện và kiểm tra có phân phối tương đồn</a:t>
            </a:r>
            <a:r>
              <a:rPr lang="en-US" sz="1800" dirty="0"/>
              <a:t>g</a:t>
            </a:r>
            <a:endParaRPr sz="18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2A495882-3F15-4A77-BEC9-04B1856A4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346" y="1608858"/>
            <a:ext cx="3851565" cy="192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2C3A93-4C45-4FA8-8C72-BD906C4FD27A}"/>
              </a:ext>
            </a:extLst>
          </p:cNvPr>
          <p:cNvSpPr txBox="1"/>
          <p:nvPr/>
        </p:nvSpPr>
        <p:spPr>
          <a:xfrm>
            <a:off x="5210156" y="3650673"/>
            <a:ext cx="3656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Hình</a:t>
            </a:r>
            <a:r>
              <a:rPr lang="en-US" sz="1200" i="1" dirty="0"/>
              <a:t> 1. </a:t>
            </a:r>
            <a:r>
              <a:rPr lang="en-US" sz="1200" i="1" dirty="0" err="1"/>
              <a:t>Ví</a:t>
            </a:r>
            <a:r>
              <a:rPr lang="en-US" sz="1200" i="1" dirty="0"/>
              <a:t> </a:t>
            </a:r>
            <a:r>
              <a:rPr lang="en-US" sz="1200" i="1" dirty="0" err="1"/>
              <a:t>dụ</a:t>
            </a:r>
            <a:r>
              <a:rPr lang="en-US" sz="1200" i="1" dirty="0"/>
              <a:t> </a:t>
            </a:r>
            <a:r>
              <a:rPr lang="en-US" sz="1200" i="1" dirty="0" err="1"/>
              <a:t>về</a:t>
            </a:r>
            <a:r>
              <a:rPr lang="en-US" sz="1200" i="1" dirty="0"/>
              <a:t> </a:t>
            </a:r>
            <a:r>
              <a:rPr lang="en-US" sz="1200" i="1" dirty="0" err="1"/>
              <a:t>ứng</a:t>
            </a:r>
            <a:r>
              <a:rPr lang="en-US" sz="1200" i="1" dirty="0"/>
              <a:t> </a:t>
            </a:r>
            <a:r>
              <a:rPr lang="en-US" sz="1200" i="1" dirty="0" err="1"/>
              <a:t>dụng</a:t>
            </a:r>
            <a:r>
              <a:rPr lang="en-US" sz="1200" i="1" dirty="0"/>
              <a:t> Density map regression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Giới thiệu (2/2)</a:t>
            </a:r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4640427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just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 b="1" dirty="0"/>
              <a:t>2. </a:t>
            </a:r>
            <a:r>
              <a:rPr lang="en-US" sz="1800" b="1" dirty="0" err="1"/>
              <a:t>Vấn</a:t>
            </a:r>
            <a:r>
              <a:rPr lang="en-US" sz="1800" b="1" dirty="0"/>
              <a:t> </a:t>
            </a:r>
            <a:r>
              <a:rPr lang="en-US" sz="1800" b="1" dirty="0" err="1"/>
              <a:t>đề</a:t>
            </a:r>
            <a:r>
              <a:rPr lang="en-US" sz="1800" b="1" dirty="0"/>
              <a:t> </a:t>
            </a:r>
            <a:r>
              <a:rPr lang="en-US" sz="1800" b="1" dirty="0" err="1"/>
              <a:t>nghiên</a:t>
            </a:r>
            <a:r>
              <a:rPr lang="en-US" sz="1800" b="1" dirty="0"/>
              <a:t> </a:t>
            </a:r>
            <a:r>
              <a:rPr lang="en-US" sz="1800" b="1" dirty="0" err="1"/>
              <a:t>cứu</a:t>
            </a:r>
            <a:endParaRPr lang="en-US" sz="1800" b="1" dirty="0"/>
          </a:p>
          <a:p>
            <a:r>
              <a:rPr lang="vi-VN" sz="1800" dirty="0"/>
              <a:t>Hiện tượng Dịch chuyển miền</a:t>
            </a:r>
            <a:r>
              <a:rPr lang="en-US" sz="1800" dirty="0"/>
              <a:t> </a:t>
            </a:r>
            <a:r>
              <a:rPr lang="en-US" sz="1800" dirty="0" err="1"/>
              <a:t>dư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vi-VN" sz="1800" dirty="0"/>
              <a:t> (Domain Shift): Hiệu suất giảm mạnh khi triển khai ở môi trường có góc quay, thời tiết hoặc ánh sáng khác biệt so với lúc huấn luyện</a:t>
            </a:r>
            <a:endParaRPr lang="en-US" sz="1800" dirty="0"/>
          </a:p>
          <a:p>
            <a:r>
              <a:rPr lang="en-US" sz="1800" dirty="0" err="1"/>
              <a:t>Hạn</a:t>
            </a:r>
            <a:r>
              <a:rPr lang="en-US" sz="1800" dirty="0"/>
              <a:t> </a:t>
            </a:r>
            <a:r>
              <a:rPr lang="en-US" sz="1800" dirty="0" err="1"/>
              <a:t>chế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Domain Adaptation: </a:t>
            </a:r>
            <a:r>
              <a:rPr lang="en-US" sz="1800" dirty="0" err="1"/>
              <a:t>Đòi</a:t>
            </a:r>
            <a:r>
              <a:rPr lang="en-US" sz="1800" dirty="0"/>
              <a:t> </a:t>
            </a:r>
            <a:r>
              <a:rPr lang="en-US" sz="1800" dirty="0" err="1"/>
              <a:t>hỏi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miền</a:t>
            </a:r>
            <a:r>
              <a:rPr lang="en-US" sz="1800" dirty="0"/>
              <a:t> </a:t>
            </a:r>
            <a:r>
              <a:rPr lang="en-US" sz="1800" dirty="0" err="1"/>
              <a:t>đích</a:t>
            </a:r>
            <a:r>
              <a:rPr lang="en-US" sz="1800" dirty="0"/>
              <a:t>, </a:t>
            </a:r>
            <a:r>
              <a:rPr lang="en-US" sz="1800" dirty="0" err="1"/>
              <a:t>khó</a:t>
            </a:r>
            <a:r>
              <a:rPr lang="en-US" sz="1800" dirty="0"/>
              <a:t> </a:t>
            </a:r>
            <a:r>
              <a:rPr lang="en-US" sz="1800" dirty="0" err="1"/>
              <a:t>đáp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tế</a:t>
            </a:r>
            <a:endParaRPr lang="en-US" sz="1800" dirty="0"/>
          </a:p>
          <a:p>
            <a:r>
              <a:rPr lang="vi-VN" sz="1800" dirty="0"/>
              <a:t>Thử thách SDG: </a:t>
            </a:r>
            <a:r>
              <a:rPr lang="en-US" sz="1800" dirty="0" err="1"/>
              <a:t>Vấn</a:t>
            </a:r>
            <a:r>
              <a:rPr lang="en-US" sz="1800" dirty="0"/>
              <a:t> </a:t>
            </a:r>
            <a:r>
              <a:rPr lang="en-US" sz="1800" dirty="0" err="1"/>
              <a:t>đề</a:t>
            </a:r>
            <a:r>
              <a:rPr lang="en-US" sz="1800" dirty="0"/>
              <a:t> </a:t>
            </a:r>
            <a:r>
              <a:rPr lang="vi-VN" sz="1800" dirty="0"/>
              <a:t>label ambiguity giữa người và nền trong các bối cảnh khác nhau</a:t>
            </a:r>
            <a:endParaRPr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1DF666-B9EF-433C-A0C0-CB485E625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327" y="1826962"/>
            <a:ext cx="3929062" cy="1895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402C01-A2F2-43F6-B1FC-0B34C727253D}"/>
              </a:ext>
            </a:extLst>
          </p:cNvPr>
          <p:cNvSpPr txBox="1"/>
          <p:nvPr/>
        </p:nvSpPr>
        <p:spPr>
          <a:xfrm>
            <a:off x="5112328" y="3810170"/>
            <a:ext cx="3929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Hình</a:t>
            </a:r>
            <a:r>
              <a:rPr lang="en-US" sz="1200" i="1" dirty="0"/>
              <a:t> 2. </a:t>
            </a:r>
            <a:r>
              <a:rPr lang="en-US" sz="1200" i="1" dirty="0" err="1"/>
              <a:t>Môi</a:t>
            </a:r>
            <a:r>
              <a:rPr lang="en-US" sz="1200" i="1" dirty="0"/>
              <a:t> </a:t>
            </a:r>
            <a:r>
              <a:rPr lang="en-US" sz="1200" i="1" dirty="0" err="1"/>
              <a:t>trường</a:t>
            </a:r>
            <a:r>
              <a:rPr lang="en-US" sz="1200" i="1" dirty="0"/>
              <a:t> </a:t>
            </a:r>
            <a:r>
              <a:rPr lang="en-US" sz="1200" i="1" dirty="0" err="1"/>
              <a:t>thực</a:t>
            </a:r>
            <a:r>
              <a:rPr lang="en-US" sz="1200" i="1" dirty="0"/>
              <a:t> </a:t>
            </a:r>
            <a:r>
              <a:rPr lang="en-US" sz="1200" i="1" dirty="0" err="1"/>
              <a:t>tế</a:t>
            </a:r>
            <a:r>
              <a:rPr lang="en-US" sz="1200" i="1" dirty="0"/>
              <a:t> </a:t>
            </a:r>
            <a:r>
              <a:rPr lang="en-US" sz="1200" i="1" dirty="0" err="1"/>
              <a:t>khác</a:t>
            </a:r>
            <a:r>
              <a:rPr lang="en-US" sz="1200" i="1" dirty="0"/>
              <a:t> </a:t>
            </a:r>
            <a:r>
              <a:rPr lang="en-US" sz="1200" i="1" dirty="0" err="1"/>
              <a:t>biệt</a:t>
            </a:r>
            <a:r>
              <a:rPr lang="en-US" sz="1200" i="1" dirty="0"/>
              <a:t> </a:t>
            </a:r>
            <a:r>
              <a:rPr lang="en-US" sz="1200" i="1" dirty="0" err="1"/>
              <a:t>với</a:t>
            </a:r>
            <a:r>
              <a:rPr lang="en-US" sz="1200" i="1" dirty="0"/>
              <a:t> </a:t>
            </a:r>
            <a:r>
              <a:rPr lang="en-US" sz="1200" i="1" dirty="0" err="1"/>
              <a:t>lúc</a:t>
            </a:r>
            <a:r>
              <a:rPr lang="en-US" sz="1200" i="1" dirty="0"/>
              <a:t> </a:t>
            </a:r>
            <a:r>
              <a:rPr lang="en-US" sz="1200" i="1" dirty="0" err="1"/>
              <a:t>huấn</a:t>
            </a:r>
            <a:r>
              <a:rPr lang="en-US" sz="1200" i="1" dirty="0"/>
              <a:t> </a:t>
            </a:r>
            <a:r>
              <a:rPr lang="en-US" sz="1200" i="1" dirty="0" err="1"/>
              <a:t>luyện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971788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Mục tiêu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sz="1800" dirty="0" err="1"/>
              <a:t>Tổng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, </a:t>
            </a:r>
            <a:r>
              <a:rPr lang="en-US" sz="1800" dirty="0" err="1"/>
              <a:t>phân</a:t>
            </a:r>
            <a:r>
              <a:rPr lang="en-US" sz="1800" dirty="0"/>
              <a:t> </a:t>
            </a:r>
            <a:r>
              <a:rPr lang="en-US" sz="1800" dirty="0" err="1"/>
              <a:t>tích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kỹ</a:t>
            </a:r>
            <a:r>
              <a:rPr lang="en-US" sz="1800" dirty="0"/>
              <a:t> </a:t>
            </a:r>
            <a:r>
              <a:rPr lang="en-US" sz="1800" dirty="0" err="1"/>
              <a:t>thuật</a:t>
            </a:r>
            <a:r>
              <a:rPr lang="en-US" sz="1800" dirty="0"/>
              <a:t> Domain Generalization </a:t>
            </a:r>
            <a:r>
              <a:rPr lang="en-US" sz="1800" dirty="0" err="1"/>
              <a:t>hiện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đánh</a:t>
            </a:r>
            <a:r>
              <a:rPr lang="en-US" sz="1800" dirty="0"/>
              <a:t> </a:t>
            </a:r>
            <a:r>
              <a:rPr lang="en-US" sz="1800" dirty="0" err="1"/>
              <a:t>giá</a:t>
            </a:r>
            <a:r>
              <a:rPr lang="en-US" sz="1800" dirty="0"/>
              <a:t> </a:t>
            </a:r>
            <a:r>
              <a:rPr lang="en-US" sz="1800" dirty="0" err="1"/>
              <a:t>hạn</a:t>
            </a:r>
            <a:r>
              <a:rPr lang="en-US" sz="1800" dirty="0"/>
              <a:t> </a:t>
            </a:r>
            <a:r>
              <a:rPr lang="en-US" sz="1800" dirty="0" err="1"/>
              <a:t>chế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chúng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crowd counting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vi-VN" sz="1800" dirty="0"/>
              <a:t>Triển khai khung mô hình MPCount tích hợp cơ chế AMB và PC để trích xuất đặc trưng bất biến và giảm sai số nhãn.</a:t>
            </a:r>
            <a:endParaRPr lang="en-US" sz="18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vi-VN" sz="1800" dirty="0"/>
              <a:t>Đánh giá định lượng trên các bộ dữ liệu tiêu chuẩn (SHA, SHB, JHU-Crowd++) để chứng minh khả năng tổng quát hóa</a:t>
            </a:r>
            <a:endParaRPr sz="1800"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Nội dung và Phương pháp (1/3)</a:t>
            </a:r>
            <a:endParaRPr dirty="0"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1.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</a:rPr>
              <a:t>Nội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 dung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</a:rPr>
              <a:t>nghiên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</a:rPr>
              <a:t>cứu</a:t>
            </a:r>
            <a:endParaRPr lang="en-US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Phân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tích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và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hệ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thống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hóa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kỹ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thuật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Domain Generalization (DG)</a:t>
            </a:r>
            <a:r>
              <a:rPr lang="vi-VN" sz="18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Xây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dựng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và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triển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khai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mô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hình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MPCount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gồm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thành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phần</a:t>
            </a:r>
            <a:endParaRPr lang="en-US" sz="180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Cấu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trúc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Encoder-Decoder</a:t>
            </a: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Cơ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chế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Attention Memory Bank (AMB)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Content Error Mask (CEM)</a:t>
            </a: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Patch-wise Classification (PC)</a:t>
            </a:r>
          </a:p>
          <a:p>
            <a:pPr marL="546100" lvl="1" indent="0">
              <a:spcBef>
                <a:spcPts val="0"/>
              </a:spcBef>
              <a:buSzPts val="2200"/>
              <a:buNone/>
            </a:pPr>
            <a:endParaRPr lang="en-US" sz="180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vi-VN" sz="180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Đánh giá định lượng và phân tích hiệu năng</a:t>
            </a:r>
            <a:endParaRPr lang="en-US" sz="180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Thực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hiện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thí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nghiệm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so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sánh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chéo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giữa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tập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dữ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liệu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Nghiên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cứu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thành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phần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để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làm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rõ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đóng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góp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của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từng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module</a:t>
            </a:r>
            <a:endParaRPr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Nội dung và Phương pháp (2/3)</a:t>
            </a:r>
            <a:endParaRPr dirty="0"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2.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</a:rPr>
              <a:t>Phương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</a:rPr>
              <a:t>pháp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</a:rPr>
              <a:t>nghiên</a:t>
            </a: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</a:rPr>
              <a:t>cứu</a:t>
            </a:r>
            <a:endParaRPr lang="en-US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Phương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pháp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latin typeface="Roboto" panose="02000000000000000000" pitchFamily="2" charset="0"/>
                <a:ea typeface="Roboto" panose="02000000000000000000" pitchFamily="2" charset="0"/>
              </a:rPr>
              <a:t>n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ghiên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cứu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tài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liệu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công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trình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về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Domain Generalization,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nghiên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cứu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crowd counting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gần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đây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Phương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pháp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thực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nghiệm</a:t>
            </a:r>
            <a:endParaRPr lang="en-US" sz="1800" b="1" dirty="0"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Triển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khai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mô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hình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MPCount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bằng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PyTorch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Huấn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luyện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trên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bộ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dữ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liệu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công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khai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như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ShanghaiTech</a:t>
            </a: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Part A &amp; B,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JHU-Crowd++</a:t>
            </a:r>
            <a:endParaRPr lang="en-US" sz="180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Phương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pháp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đánh</a:t>
            </a:r>
            <a:r>
              <a:rPr lang="en-US" sz="1800" b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b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giá</a:t>
            </a:r>
            <a:endParaRPr lang="en-US" sz="1800" b="1" dirty="0"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Chỉ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số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đánh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giá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: MAE, MSE </a:t>
            </a: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Thiết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lập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đánh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giá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Huấn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luyện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trên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một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tập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kiểm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tra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cross-dataset</a:t>
            </a:r>
          </a:p>
          <a:p>
            <a:pPr marL="831850" lvl="1" indent="-285750">
              <a:spcBef>
                <a:spcPts val="0"/>
              </a:spcBef>
              <a:buSzPts val="2200"/>
            </a:pP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Phân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tích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bổ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sung: </a:t>
            </a:r>
            <a:r>
              <a:rPr lang="en-US" sz="1800" dirty="0"/>
              <a:t>Ablation Study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-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đánh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giá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vai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trò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</a:rPr>
              <a:t>của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</a:rPr>
              <a:t> AMB, CEM, PC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2982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Nội dung và Phương pháp (3/3)</a:t>
            </a:r>
            <a:endParaRPr dirty="0"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Pipeline</a:t>
            </a: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lang="en-US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F16E8-9EC7-4791-9D86-747EE968DC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3150" y="1218709"/>
            <a:ext cx="7779600" cy="3006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C85362-496B-44F3-8028-775C7E5C7A49}"/>
              </a:ext>
            </a:extLst>
          </p:cNvPr>
          <p:cNvSpPr txBox="1"/>
          <p:nvPr/>
        </p:nvSpPr>
        <p:spPr>
          <a:xfrm>
            <a:off x="2153700" y="4338166"/>
            <a:ext cx="4858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Roboto" panose="02000000000000000000" pitchFamily="2" charset="0"/>
                <a:ea typeface="Roboto" panose="02000000000000000000" pitchFamily="2" charset="0"/>
              </a:rPr>
              <a:t>Hình</a:t>
            </a:r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</a:rPr>
              <a:t> 3.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Quy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trình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huấn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luyện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tổng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thể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của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mô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hình</a:t>
            </a:r>
            <a:r>
              <a:rPr lang="en-US" i="1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i="1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MPCount</a:t>
            </a:r>
            <a:endParaRPr lang="en-US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86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Kết quả dự kiến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mặt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thuyết</a:t>
            </a:r>
            <a:r>
              <a:rPr lang="en-US" dirty="0"/>
              <a:t>: </a:t>
            </a:r>
            <a:r>
              <a:rPr lang="vi-VN" dirty="0"/>
              <a:t>Hệ thống hóa các kỹ thuật Domain Generalization trong bài toán đếm người</a:t>
            </a:r>
            <a:endParaRPr lang="en-US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b="1" dirty="0"/>
              <a:t>V</a:t>
            </a:r>
            <a:r>
              <a:rPr lang="vi-VN" b="1" dirty="0"/>
              <a:t>ề mặt mô hình và phương pháp</a:t>
            </a:r>
            <a:r>
              <a:rPr lang="en-US" b="1" dirty="0"/>
              <a:t>: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MPCount</a:t>
            </a:r>
            <a:endParaRPr lang="en-US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mặt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nghiệm</a:t>
            </a:r>
            <a:r>
              <a:rPr lang="en-US" b="1" dirty="0"/>
              <a:t>: </a:t>
            </a:r>
            <a:r>
              <a:rPr lang="vi-VN" dirty="0"/>
              <a:t>Đánh giá định lượng khả năng tổng quát hóa bằng MAE, MSE</a:t>
            </a:r>
            <a:endParaRPr lang="en-US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mặt</a:t>
            </a:r>
            <a:r>
              <a:rPr lang="en-US" b="1" dirty="0"/>
              <a:t> </a:t>
            </a: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: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Tài liệu tham khảo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spcAft>
                <a:spcPts val="1000"/>
              </a:spcAft>
            </a:pP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[1].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Zhuoxuan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Peng, S.-H. Gary Chan. "Single Domain Generalization for Crowd Counting". Proceedings of the IEEE/CVF Conference on Computer Vision and Pattern Recognition (CVPR), 2024. </a:t>
            </a:r>
          </a:p>
          <a:p>
            <a:pPr marL="285750" indent="-285750" algn="just"/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[2].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Zhipeng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Du,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Jiankang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Deng, and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Miaojing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Shi. "Domain-general crowd counting in unseen scenarios." AAAI Conference on Artificial Intelligence, 2023. </a:t>
            </a:r>
          </a:p>
          <a:p>
            <a:pPr marL="285750" indent="-285750" algn="just"/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[3].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Zhiheng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Ma, et al. "Bayesian loss for crowd count estimation with point supervision." ICCV, 2019 </a:t>
            </a:r>
          </a:p>
          <a:p>
            <a:pPr marL="285750" indent="-285750" algn="just"/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[4].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Boyu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Wang, et al. "Distribution matching for crowd counting."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NeurIPS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, 2020.</a:t>
            </a:r>
          </a:p>
          <a:p>
            <a:pPr marL="285750" indent="-285750" algn="just">
              <a:spcAft>
                <a:spcPts val="1000"/>
              </a:spcAft>
            </a:pP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[5]. Yingying Zhang, et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al."Single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-image crowd counting via multi-column convolutional neural network." CVPR, 2016. </a:t>
            </a:r>
          </a:p>
          <a:p>
            <a:pPr marL="285750" indent="-285750" algn="just"/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[6]. Vishwanath A.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Sindagi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, et al. "JHU-CROWD++: A Large-Scale Benchmark for Crowd Counting." IEEE TPAMI, 2020 </a:t>
            </a:r>
          </a:p>
          <a:p>
            <a:pPr marL="285750" indent="-285750" algn="just"/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[7]. Karen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Simonyan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 and Andrew Zisserman. "Very deep convolutional networks for large-scale image recognition." </a:t>
            </a:r>
            <a:r>
              <a:rPr lang="en-US" sz="1400" i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CoRR</a:t>
            </a:r>
            <a:r>
              <a:rPr lang="en-US" sz="1400" i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Cambria" panose="02040503050406030204" pitchFamily="18" charset="0"/>
              </a:rPr>
              <a:t>, 2014 </a:t>
            </a:r>
            <a:endParaRPr sz="1400" i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838</Words>
  <Application>Microsoft Office PowerPoint</Application>
  <PresentationFormat>On-screen Show (16:9)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Roboto</vt:lpstr>
      <vt:lpstr>Arial</vt:lpstr>
      <vt:lpstr>Material - R01</vt:lpstr>
      <vt:lpstr>NGHIÊN CỨU TỔNG QUÁT HÓA  TỪ NGUỒN DỮ LIỆU ĐƠN MIỀN CHO BÀI TOÁN ĐẾM NGƯỜI TRONG ẢNH BẰNG PHƯƠNG PHÁP MPCOUNT</vt:lpstr>
      <vt:lpstr>Tóm tắt </vt:lpstr>
      <vt:lpstr>Giới thiệu (1/2)</vt:lpstr>
      <vt:lpstr>Giới thiệu (2/2)</vt:lpstr>
      <vt:lpstr>Mục tiêu</vt:lpstr>
      <vt:lpstr>Nội dung và Phương pháp (1/3)</vt:lpstr>
      <vt:lpstr>Nội dung và Phương pháp (2/3)</vt:lpstr>
      <vt:lpstr>Nội dung và Phương pháp (3/3)</vt:lpstr>
      <vt:lpstr>Kết quả dự kiến</vt:lpstr>
      <vt:lpstr>Tài liệu tham khảo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TÊN ĐỀ TÀI - IN HOA</dc:title>
  <dc:creator>Nguyễn Thùy Linh</dc:creator>
  <cp:lastModifiedBy>Nguyễn Thùy Linh</cp:lastModifiedBy>
  <cp:revision>12</cp:revision>
  <dcterms:modified xsi:type="dcterms:W3CDTF">2026-01-20T21:03:48Z</dcterms:modified>
</cp:coreProperties>
</file>